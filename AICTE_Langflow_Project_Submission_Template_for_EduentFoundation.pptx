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6"/>
  </p:notesMasterIdLst>
  <p:sldIdLst>
    <p:sldId id="283" r:id="rId2"/>
    <p:sldId id="257" r:id="rId3"/>
    <p:sldId id="282" r:id="rId4"/>
    <p:sldId id="285" r:id="rId5"/>
    <p:sldId id="278" r:id="rId6"/>
    <p:sldId id="281" r:id="rId7"/>
    <p:sldId id="279" r:id="rId8"/>
    <p:sldId id="262" r:id="rId9"/>
    <p:sldId id="264" r:id="rId10"/>
    <p:sldId id="290" r:id="rId11"/>
    <p:sldId id="291" r:id="rId12"/>
    <p:sldId id="292" r:id="rId13"/>
    <p:sldId id="293" r:id="rId14"/>
    <p:sldId id="294" r:id="rId15"/>
    <p:sldId id="295" r:id="rId16"/>
    <p:sldId id="296" r:id="rId17"/>
    <p:sldId id="297" r:id="rId18"/>
    <p:sldId id="298" r:id="rId19"/>
    <p:sldId id="286" r:id="rId20"/>
    <p:sldId id="287" r:id="rId21"/>
    <p:sldId id="280" r:id="rId22"/>
    <p:sldId id="288" r:id="rId23"/>
    <p:sldId id="299" r:id="rId24"/>
    <p:sldId id="276" r:id="rId2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13540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C2F88CF5-D0C3-0228-6C1A-E849738B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15C41DBA-EB5E-9EB1-28D2-68EF3081A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9AACA92E-BC74-25E5-B8D5-2E658F81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75871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A795C14E-5D6A-39A3-2018-2C72BB451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5B8BB2F-0927-3841-AC64-CC67B50358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58797E72-A3BC-0A49-07C4-DE7FDA7523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20786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/>
              <a:t>IBM University Engagement Project Submission</a:t>
            </a:r>
            <a:br>
              <a:rPr lang="en-US" b="1"/>
            </a:b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 dirty="0"/>
              <a:t>“Exploring the Power of Agentic AI with IBM Granite and </a:t>
            </a:r>
            <a:r>
              <a:rPr lang="en-US" b="1" i="1" dirty="0" err="1"/>
              <a:t>LangFlow</a:t>
            </a:r>
            <a:r>
              <a:rPr lang="en-US" b="1" i="1" dirty="0"/>
              <a:t>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7564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2158394320"/>
              </p:ext>
            </p:extLst>
          </p:nvPr>
        </p:nvGraphicFramePr>
        <p:xfrm>
          <a:off x="1299257" y="2600315"/>
          <a:ext cx="9394989" cy="2167128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064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732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Student Name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Recent Passport Photo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Email ID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Mobile number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[WhatsApp]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389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3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/>
                        <a:t>AKHILESH ARIKATLA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3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dirty="0"/>
                        <a:t>arikatlaakhilesh1618@gmail.com</a:t>
                      </a:r>
                      <a:endParaRPr sz="12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3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/>
                        <a:t>+91 7780445447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828B9EF-C084-F5D4-CA27-75AF7D995640}"/>
              </a:ext>
            </a:extLst>
          </p:cNvPr>
          <p:cNvSpPr txBox="1"/>
          <p:nvPr/>
        </p:nvSpPr>
        <p:spPr>
          <a:xfrm>
            <a:off x="1206164" y="1460724"/>
            <a:ext cx="10280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Domain of  Project – </a:t>
            </a:r>
            <a:r>
              <a:rPr lang="en-US" sz="2400" b="1" dirty="0">
                <a:highlight>
                  <a:srgbClr val="FFFF00"/>
                </a:highlight>
              </a:rPr>
              <a:t>Education</a:t>
            </a:r>
            <a:endParaRPr lang="en-IN" sz="2400" b="1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1206162" y="551965"/>
            <a:ext cx="95811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Project Tile – </a:t>
            </a:r>
            <a:r>
              <a:rPr lang="en-US" sz="2400" dirty="0">
                <a:highlight>
                  <a:srgbClr val="FFFF00"/>
                </a:highlight>
              </a:rPr>
              <a:t>College Admission Agent (RAG Based)</a:t>
            </a:r>
            <a:endParaRPr lang="en-IN" sz="2400" b="1" dirty="0">
              <a:highlight>
                <a:srgbClr val="FFFF00"/>
              </a:highlight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948B13D-55AC-6828-3E76-26B1391408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4187" y="3578942"/>
            <a:ext cx="1039761" cy="118850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847FA31-EA47-D27A-9D69-AF50A3080AEC}"/>
              </a:ext>
            </a:extLst>
          </p:cNvPr>
          <p:cNvSpPr txBox="1"/>
          <p:nvPr/>
        </p:nvSpPr>
        <p:spPr>
          <a:xfrm>
            <a:off x="576072" y="704088"/>
            <a:ext cx="116159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Problem Statement – College Admission Agent (RAG Based)</a:t>
            </a:r>
          </a:p>
          <a:p>
            <a:pPr algn="ctr"/>
            <a:endParaRPr lang="en-IN" sz="2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75FF01-1A02-66A3-3A6C-26FED285D73A}"/>
              </a:ext>
            </a:extLst>
          </p:cNvPr>
          <p:cNvSpPr txBox="1"/>
          <p:nvPr/>
        </p:nvSpPr>
        <p:spPr>
          <a:xfrm>
            <a:off x="576072" y="1716505"/>
            <a:ext cx="11182791" cy="38985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  <a:defRPr sz="2000">
                <a:latin typeface="Arial"/>
              </a:defRPr>
            </a:pPr>
            <a:r>
              <a:rPr lang="en-US" dirty="0"/>
              <a:t>Challenge: Students need reliable, up-to-date admission information from official institutional sources.</a:t>
            </a:r>
          </a:p>
          <a:p>
            <a:pPr>
              <a:spcAft>
                <a:spcPts val="800"/>
              </a:spcAft>
              <a:defRPr sz="2000">
                <a:latin typeface="Arial"/>
              </a:defRPr>
            </a:pPr>
            <a:r>
              <a:rPr lang="en-US" dirty="0"/>
              <a:t>Admission policies, eligibility, courses, fees, documents and deadlines can be scattered across web pages and documents.</a:t>
            </a:r>
          </a:p>
          <a:p>
            <a:pPr>
              <a:spcAft>
                <a:spcPts val="800"/>
              </a:spcAft>
              <a:defRPr sz="2000">
                <a:latin typeface="Arial"/>
              </a:defRPr>
            </a:pPr>
            <a:r>
              <a:rPr lang="en-US" dirty="0"/>
              <a:t>Objective: Build a RAG-powered college admission agent that retrieves and summarizes trusted institutional information.</a:t>
            </a:r>
          </a:p>
          <a:p>
            <a:pPr>
              <a:spcAft>
                <a:spcPts val="800"/>
              </a:spcAft>
              <a:defRPr sz="2000">
                <a:latin typeface="Arial"/>
              </a:defRPr>
            </a:pPr>
            <a:r>
              <a:rPr lang="en-US" dirty="0"/>
              <a:t>The agent should answer natural-language questions and guide course selection, application steps, fees and important dates.</a:t>
            </a:r>
          </a:p>
          <a:p>
            <a:pPr>
              <a:spcAft>
                <a:spcPts val="800"/>
              </a:spcAft>
              <a:defRPr sz="2000">
                <a:latin typeface="Arial"/>
              </a:defRPr>
            </a:pPr>
            <a:r>
              <a:rPr lang="en-US" dirty="0"/>
              <a:t>Accuracy requirement: avoid inventing admission information and direct students to verify changing details.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52584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27F30CC-07EF-8FCC-DA00-C9212F5DAECE}"/>
              </a:ext>
            </a:extLst>
          </p:cNvPr>
          <p:cNvSpPr txBox="1"/>
          <p:nvPr/>
        </p:nvSpPr>
        <p:spPr>
          <a:xfrm>
            <a:off x="576071" y="704088"/>
            <a:ext cx="111827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Proposed Solution – AI-Powered College Admission Agent</a:t>
            </a:r>
          </a:p>
          <a:p>
            <a:endParaRPr lang="en-IN" sz="24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BD9894-0DCB-8C61-8E9E-B4C5886F9DD7}"/>
              </a:ext>
            </a:extLst>
          </p:cNvPr>
          <p:cNvSpPr txBox="1"/>
          <p:nvPr/>
        </p:nvSpPr>
        <p:spPr>
          <a:xfrm>
            <a:off x="705854" y="1535086"/>
            <a:ext cx="11053008" cy="35907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  <a:defRPr sz="2000">
                <a:latin typeface="Arial"/>
              </a:defRPr>
            </a:pPr>
            <a:r>
              <a:rPr lang="en-US" dirty="0"/>
              <a:t>Use IBM </a:t>
            </a:r>
            <a:r>
              <a:rPr lang="en-US" dirty="0" err="1"/>
              <a:t>watsonx</a:t>
            </a:r>
            <a:r>
              <a:rPr lang="en-US" dirty="0"/>
              <a:t> Orchestrate as the agent platform and embed the agent into the college admission website.</a:t>
            </a:r>
          </a:p>
          <a:p>
            <a:pPr>
              <a:spcAft>
                <a:spcPts val="800"/>
              </a:spcAft>
              <a:defRPr sz="2000">
                <a:latin typeface="Arial"/>
              </a:defRPr>
            </a:pPr>
            <a:r>
              <a:rPr lang="en-US" dirty="0"/>
              <a:t>Connect an official RISE college knowledge source to provide Retrieval-Augmented Generation (RAG).</a:t>
            </a:r>
          </a:p>
          <a:p>
            <a:pPr>
              <a:spcAft>
                <a:spcPts val="800"/>
              </a:spcAft>
              <a:defRPr sz="2000">
                <a:latin typeface="Arial"/>
              </a:defRPr>
            </a:pPr>
            <a:r>
              <a:rPr lang="en-US" dirty="0"/>
              <a:t>Retrieve relevant institutional information before generating answers.</a:t>
            </a:r>
          </a:p>
          <a:p>
            <a:pPr>
              <a:spcAft>
                <a:spcPts val="800"/>
              </a:spcAft>
              <a:defRPr sz="2000">
                <a:latin typeface="Arial"/>
              </a:defRPr>
            </a:pPr>
            <a:r>
              <a:rPr lang="en-US" dirty="0"/>
              <a:t>Answer questions about courses, eligibility, admission procedure, fees, required documents, intake and contacts.</a:t>
            </a:r>
          </a:p>
          <a:p>
            <a:pPr>
              <a:spcAft>
                <a:spcPts val="800"/>
              </a:spcAft>
              <a:defRPr sz="2000">
                <a:latin typeface="Arial"/>
              </a:defRPr>
            </a:pPr>
            <a:r>
              <a:rPr lang="en-US" dirty="0"/>
              <a:t>Use grounded responses and explicit fallback guidance when information is unavailable or may have changed.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902949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1FBD4A-3273-E454-091D-D5B0678FC299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b="1"/>
              <a:t>Technology Used</a:t>
            </a:r>
            <a:endParaRPr lang="en-IN" sz="24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7608B5-9906-EFCF-959A-E89FC2E3EE19}"/>
              </a:ext>
            </a:extLst>
          </p:cNvPr>
          <p:cNvSpPr txBox="1"/>
          <p:nvPr/>
        </p:nvSpPr>
        <p:spPr>
          <a:xfrm>
            <a:off x="777240" y="1207008"/>
            <a:ext cx="10515600" cy="5129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  <a:defRPr sz="2000">
                <a:latin typeface="Arial"/>
              </a:defRPr>
            </a:pPr>
            <a:r>
              <a:rPr lang="en-US" b="1" dirty="0"/>
              <a:t>IBM </a:t>
            </a:r>
            <a:r>
              <a:rPr lang="en-US" b="1" dirty="0" err="1"/>
              <a:t>watsonx</a:t>
            </a:r>
            <a:r>
              <a:rPr lang="en-US" b="1" dirty="0"/>
              <a:t> Orchestrate </a:t>
            </a:r>
            <a:r>
              <a:rPr lang="en-US" dirty="0"/>
              <a:t>– agent orchestration, knowledge retrieval and embedded chat.</a:t>
            </a:r>
          </a:p>
          <a:p>
            <a:pPr>
              <a:spcAft>
                <a:spcPts val="800"/>
              </a:spcAft>
              <a:defRPr sz="2000">
                <a:latin typeface="Arial"/>
              </a:defRPr>
            </a:pPr>
            <a:endParaRPr lang="en-US" dirty="0"/>
          </a:p>
          <a:p>
            <a:pPr>
              <a:spcAft>
                <a:spcPts val="800"/>
              </a:spcAft>
              <a:defRPr sz="2000">
                <a:latin typeface="Arial"/>
              </a:defRPr>
            </a:pPr>
            <a:r>
              <a:rPr lang="en-US" b="1" dirty="0"/>
              <a:t>RAG</a:t>
            </a:r>
            <a:r>
              <a:rPr lang="en-US" dirty="0"/>
              <a:t> – retrieves relevant information from the connected official college knowledge source.</a:t>
            </a:r>
          </a:p>
          <a:p>
            <a:pPr>
              <a:spcAft>
                <a:spcPts val="800"/>
              </a:spcAft>
              <a:defRPr sz="2000">
                <a:latin typeface="Arial"/>
              </a:defRPr>
            </a:pPr>
            <a:endParaRPr lang="en-US" dirty="0"/>
          </a:p>
          <a:p>
            <a:pPr>
              <a:spcAft>
                <a:spcPts val="800"/>
              </a:spcAft>
              <a:defRPr sz="2000">
                <a:latin typeface="Arial"/>
              </a:defRPr>
            </a:pPr>
            <a:r>
              <a:rPr lang="en-US" b="1" dirty="0"/>
              <a:t>IBM Cloud </a:t>
            </a:r>
            <a:r>
              <a:rPr lang="en-US" dirty="0"/>
              <a:t>– hosts the </a:t>
            </a:r>
            <a:r>
              <a:rPr lang="en-US" dirty="0" err="1"/>
              <a:t>watsonx</a:t>
            </a:r>
            <a:r>
              <a:rPr lang="en-US" dirty="0"/>
              <a:t> services used by the project.</a:t>
            </a:r>
          </a:p>
          <a:p>
            <a:pPr>
              <a:spcAft>
                <a:spcPts val="800"/>
              </a:spcAft>
              <a:defRPr sz="2000">
                <a:latin typeface="Arial"/>
              </a:defRPr>
            </a:pPr>
            <a:endParaRPr lang="en-US" dirty="0"/>
          </a:p>
          <a:p>
            <a:pPr>
              <a:spcAft>
                <a:spcPts val="800"/>
              </a:spcAft>
              <a:defRPr sz="2000">
                <a:latin typeface="Arial"/>
              </a:defRPr>
            </a:pPr>
            <a:r>
              <a:rPr lang="en-US" b="1" dirty="0"/>
              <a:t>React + TypeScript + Vite </a:t>
            </a:r>
            <a:r>
              <a:rPr lang="en-US" dirty="0"/>
              <a:t>– responsive student-facing frontend.</a:t>
            </a:r>
          </a:p>
          <a:p>
            <a:pPr>
              <a:spcAft>
                <a:spcPts val="800"/>
              </a:spcAft>
              <a:defRPr sz="2000">
                <a:latin typeface="Arial"/>
              </a:defRPr>
            </a:pPr>
            <a:endParaRPr lang="en-US" dirty="0"/>
          </a:p>
          <a:p>
            <a:pPr>
              <a:spcAft>
                <a:spcPts val="800"/>
              </a:spcAft>
              <a:defRPr sz="2000">
                <a:latin typeface="Arial"/>
              </a:defRPr>
            </a:pPr>
            <a:r>
              <a:rPr lang="en-US" b="1" dirty="0"/>
              <a:t>Knowledge Source </a:t>
            </a:r>
            <a:r>
              <a:rPr lang="en-US" dirty="0"/>
              <a:t>– verified RISE Krishna Sai Prakasam Group of Institutions information.</a:t>
            </a:r>
          </a:p>
          <a:p>
            <a:pPr>
              <a:spcAft>
                <a:spcPts val="800"/>
              </a:spcAft>
              <a:defRPr sz="2000">
                <a:latin typeface="Arial"/>
              </a:defRPr>
            </a:pPr>
            <a:endParaRPr lang="en-US" dirty="0"/>
          </a:p>
          <a:p>
            <a:pPr>
              <a:spcAft>
                <a:spcPts val="800"/>
              </a:spcAft>
              <a:defRPr sz="2000">
                <a:latin typeface="Arial"/>
              </a:defRPr>
            </a:pPr>
            <a:r>
              <a:rPr lang="en-US" b="1" dirty="0"/>
              <a:t>GitHub </a:t>
            </a:r>
            <a:r>
              <a:rPr lang="en-US" dirty="0"/>
              <a:t>– public source-code repository and project submission files.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44058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id="{2A145802-2DD3-EEBA-7D44-210C05B98C91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rgbClr val="051D3A"/>
              </a:buClr>
              <a:buSzPts val="3500"/>
            </a:pPr>
            <a:r>
              <a:rPr lang="en-IN" sz="2400" dirty="0"/>
              <a:t>AI Agent Components Used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endParaRPr sz="2400" b="1" dirty="0">
              <a:sym typeface="Times New Roman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B86949-7ED1-C43B-B1E3-5122BB67A596}"/>
              </a:ext>
            </a:extLst>
          </p:cNvPr>
          <p:cNvSpPr txBox="1"/>
          <p:nvPr/>
        </p:nvSpPr>
        <p:spPr>
          <a:xfrm>
            <a:off x="474821" y="863187"/>
            <a:ext cx="11492589" cy="5129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Aft>
                <a:spcPts val="800"/>
              </a:spcAft>
              <a:buAutoNum type="arabicParenR"/>
              <a:defRPr sz="2000">
                <a:latin typeface="Arial"/>
              </a:defRPr>
            </a:pPr>
            <a:r>
              <a:rPr lang="en-US" dirty="0"/>
              <a:t>Student Query / Chat Input – accepts natural-language admission questions.</a:t>
            </a:r>
          </a:p>
          <a:p>
            <a:pPr>
              <a:spcAft>
                <a:spcPts val="800"/>
              </a:spcAft>
              <a:defRPr sz="2000">
                <a:latin typeface="Arial"/>
              </a:defRPr>
            </a:pPr>
            <a:endParaRPr lang="en-US" dirty="0"/>
          </a:p>
          <a:p>
            <a:pPr>
              <a:spcAft>
                <a:spcPts val="800"/>
              </a:spcAft>
              <a:defRPr sz="2000">
                <a:latin typeface="Arial"/>
              </a:defRPr>
            </a:pPr>
            <a:r>
              <a:rPr lang="en-US" dirty="0"/>
              <a:t>2) College Admission RAG Agent – interprets the request and coordinates retrieval and response generation.</a:t>
            </a:r>
          </a:p>
          <a:p>
            <a:pPr>
              <a:spcAft>
                <a:spcPts val="800"/>
              </a:spcAft>
              <a:defRPr sz="2000">
                <a:latin typeface="Arial"/>
              </a:defRPr>
            </a:pPr>
            <a:endParaRPr lang="en-US" dirty="0"/>
          </a:p>
          <a:p>
            <a:pPr>
              <a:spcAft>
                <a:spcPts val="800"/>
              </a:spcAft>
              <a:defRPr sz="2000">
                <a:latin typeface="Arial"/>
              </a:defRPr>
            </a:pPr>
            <a:r>
              <a:rPr lang="en-US" dirty="0"/>
              <a:t>3) College Admission Knowledge Source – official institutional information used for grounding.</a:t>
            </a:r>
          </a:p>
          <a:p>
            <a:pPr>
              <a:spcAft>
                <a:spcPts val="800"/>
              </a:spcAft>
              <a:defRPr sz="2000">
                <a:latin typeface="Arial"/>
              </a:defRPr>
            </a:pPr>
            <a:endParaRPr lang="en-US" dirty="0"/>
          </a:p>
          <a:p>
            <a:pPr>
              <a:spcAft>
                <a:spcPts val="800"/>
              </a:spcAft>
              <a:defRPr sz="2000">
                <a:latin typeface="Arial"/>
              </a:defRPr>
            </a:pPr>
            <a:r>
              <a:rPr lang="en-US" dirty="0"/>
              <a:t>4) Retrieval – finds relevant course, eligibility, fee, document or admission information.</a:t>
            </a:r>
          </a:p>
          <a:p>
            <a:pPr>
              <a:spcAft>
                <a:spcPts val="800"/>
              </a:spcAft>
              <a:defRPr sz="2000">
                <a:latin typeface="Arial"/>
              </a:defRPr>
            </a:pPr>
            <a:endParaRPr lang="en-US" dirty="0"/>
          </a:p>
          <a:p>
            <a:pPr>
              <a:spcAft>
                <a:spcPts val="800"/>
              </a:spcAft>
              <a:defRPr sz="2000">
                <a:latin typeface="Arial"/>
              </a:defRPr>
            </a:pPr>
            <a:r>
              <a:rPr lang="en-US" dirty="0"/>
              <a:t>5) Grounded Chat Output – returns concise, student-friendly answers with no invented facts.</a:t>
            </a:r>
          </a:p>
          <a:p>
            <a:pPr>
              <a:spcAft>
                <a:spcPts val="800"/>
              </a:spcAft>
              <a:defRPr sz="2000">
                <a:latin typeface="Arial"/>
              </a:defRPr>
            </a:pPr>
            <a:endParaRPr lang="en-US" dirty="0"/>
          </a:p>
          <a:p>
            <a:pPr>
              <a:spcAft>
                <a:spcPts val="800"/>
              </a:spcAft>
              <a:defRPr sz="2000">
                <a:latin typeface="Arial"/>
              </a:defRPr>
            </a:pPr>
            <a:r>
              <a:rPr lang="en-US" dirty="0"/>
              <a:t>6) Embedded Agent – the live assistant is embedded into the project website.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5263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B64CF172-D2AF-03D8-F919-AA7827A0D969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>
                <a:sym typeface="Times New Roman"/>
              </a:rPr>
              <a:t>RAG workflow -</a:t>
            </a:r>
            <a:endParaRPr sz="2400" b="1" dirty="0">
              <a:sym typeface="Times New Roman"/>
            </a:endParaRP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F7FF5F49-E4E8-330F-450C-F14CCFF4FB2C}"/>
              </a:ext>
            </a:extLst>
          </p:cNvPr>
          <p:cNvSpPr txBox="1"/>
          <p:nvPr/>
        </p:nvSpPr>
        <p:spPr>
          <a:xfrm>
            <a:off x="1043940" y="281178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7523DF-0C80-D799-FA01-82CF99815C4A}"/>
              </a:ext>
            </a:extLst>
          </p:cNvPr>
          <p:cNvSpPr/>
          <p:nvPr/>
        </p:nvSpPr>
        <p:spPr>
          <a:xfrm>
            <a:off x="568452" y="1623059"/>
            <a:ext cx="1508760" cy="123444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>
              <a:defRPr sz="1700" b="1">
                <a:solidFill>
                  <a:srgbClr val="FFFFFF"/>
                </a:solidFill>
                <a:latin typeface="Arial"/>
              </a:defRPr>
            </a:pPr>
            <a:r>
              <a:rPr dirty="0"/>
              <a:t>Student Question</a:t>
            </a:r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BC04949E-4294-E491-C0E7-AA44F3C9BD3E}"/>
              </a:ext>
            </a:extLst>
          </p:cNvPr>
          <p:cNvSpPr txBox="1"/>
          <p:nvPr/>
        </p:nvSpPr>
        <p:spPr>
          <a:xfrm>
            <a:off x="2180081" y="21259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defRPr sz="2400" b="1">
                <a:solidFill>
                  <a:srgbClr val="0070C0"/>
                </a:solidFill>
                <a:latin typeface="Arial"/>
              </a:defRPr>
            </a:pPr>
            <a:r>
              <a:rPr dirty="0"/>
              <a:t>→</a:t>
            </a:r>
          </a:p>
        </p:txBody>
      </p:sp>
      <p:sp>
        <p:nvSpPr>
          <p:cNvPr id="9" name="TextBox 5">
            <a:extLst>
              <a:ext uri="{FF2B5EF4-FFF2-40B4-BE49-F238E27FC236}">
                <a16:creationId xmlns:a16="http://schemas.microsoft.com/office/drawing/2014/main" id="{00342672-E28D-2247-1BB7-F91FB5F4D4C2}"/>
              </a:ext>
            </a:extLst>
          </p:cNvPr>
          <p:cNvSpPr txBox="1"/>
          <p:nvPr/>
        </p:nvSpPr>
        <p:spPr>
          <a:xfrm>
            <a:off x="2945891" y="281178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32F8B5-5F03-1046-4AE5-56E113180C3E}"/>
              </a:ext>
            </a:extLst>
          </p:cNvPr>
          <p:cNvSpPr/>
          <p:nvPr/>
        </p:nvSpPr>
        <p:spPr>
          <a:xfrm>
            <a:off x="2602991" y="1623059"/>
            <a:ext cx="1508760" cy="123444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>
              <a:defRPr sz="1700" b="1">
                <a:solidFill>
                  <a:srgbClr val="FFFFFF"/>
                </a:solidFill>
                <a:latin typeface="Arial"/>
              </a:defRPr>
            </a:pPr>
            <a:r>
              <a:t>React Website</a:t>
            </a: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83118C44-C8CF-F6A4-E6A0-41A209A9B357}"/>
              </a:ext>
            </a:extLst>
          </p:cNvPr>
          <p:cNvSpPr txBox="1"/>
          <p:nvPr/>
        </p:nvSpPr>
        <p:spPr>
          <a:xfrm>
            <a:off x="4134611" y="2157523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defRPr sz="2400" b="1">
                <a:solidFill>
                  <a:srgbClr val="0070C0"/>
                </a:solidFill>
                <a:latin typeface="Arial"/>
              </a:defRPr>
            </a:pPr>
            <a:r>
              <a:rPr dirty="0"/>
              <a:t>→</a:t>
            </a:r>
          </a:p>
        </p:txBody>
      </p:sp>
      <p:sp>
        <p:nvSpPr>
          <p:cNvPr id="12" name="TextBox 8">
            <a:extLst>
              <a:ext uri="{FF2B5EF4-FFF2-40B4-BE49-F238E27FC236}">
                <a16:creationId xmlns:a16="http://schemas.microsoft.com/office/drawing/2014/main" id="{EF7CCBD8-1783-F92A-7CDE-A182146530B1}"/>
              </a:ext>
            </a:extLst>
          </p:cNvPr>
          <p:cNvSpPr txBox="1"/>
          <p:nvPr/>
        </p:nvSpPr>
        <p:spPr>
          <a:xfrm>
            <a:off x="4847844" y="281178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047EF11-B96E-964E-2C94-75034C8A66B9}"/>
              </a:ext>
            </a:extLst>
          </p:cNvPr>
          <p:cNvSpPr/>
          <p:nvPr/>
        </p:nvSpPr>
        <p:spPr>
          <a:xfrm>
            <a:off x="4454651" y="1686147"/>
            <a:ext cx="1508760" cy="123444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>
              <a:defRPr sz="1700" b="1">
                <a:solidFill>
                  <a:srgbClr val="FFFFFF"/>
                </a:solidFill>
                <a:latin typeface="Arial"/>
              </a:defRPr>
            </a:pPr>
            <a:r>
              <a:rPr dirty="0" err="1"/>
              <a:t>watsonx</a:t>
            </a:r>
            <a:r>
              <a:rPr dirty="0"/>
              <a:t> Orchestrate Agent</a:t>
            </a:r>
          </a:p>
        </p:txBody>
      </p:sp>
      <p:sp>
        <p:nvSpPr>
          <p:cNvPr id="14" name="TextBox 10">
            <a:extLst>
              <a:ext uri="{FF2B5EF4-FFF2-40B4-BE49-F238E27FC236}">
                <a16:creationId xmlns:a16="http://schemas.microsoft.com/office/drawing/2014/main" id="{FC7AA2C5-97E2-4CCA-83F2-4A10D5232E81}"/>
              </a:ext>
            </a:extLst>
          </p:cNvPr>
          <p:cNvSpPr txBox="1"/>
          <p:nvPr/>
        </p:nvSpPr>
        <p:spPr>
          <a:xfrm>
            <a:off x="5911035" y="2120487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defRPr sz="2400" b="1">
                <a:solidFill>
                  <a:srgbClr val="0070C0"/>
                </a:solidFill>
                <a:latin typeface="Arial"/>
              </a:defRPr>
            </a:pPr>
            <a:r>
              <a:rPr dirty="0"/>
              <a:t>→</a:t>
            </a:r>
          </a:p>
        </p:txBody>
      </p:sp>
      <p:sp>
        <p:nvSpPr>
          <p:cNvPr id="15" name="TextBox 11">
            <a:extLst>
              <a:ext uri="{FF2B5EF4-FFF2-40B4-BE49-F238E27FC236}">
                <a16:creationId xmlns:a16="http://schemas.microsoft.com/office/drawing/2014/main" id="{52CFED25-AA75-DE21-FD84-81EA6CD96EC6}"/>
              </a:ext>
            </a:extLst>
          </p:cNvPr>
          <p:cNvSpPr txBox="1"/>
          <p:nvPr/>
        </p:nvSpPr>
        <p:spPr>
          <a:xfrm>
            <a:off x="6749796" y="281178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969145C-F40B-89F7-F7F3-36731BE8012B}"/>
              </a:ext>
            </a:extLst>
          </p:cNvPr>
          <p:cNvSpPr/>
          <p:nvPr/>
        </p:nvSpPr>
        <p:spPr>
          <a:xfrm>
            <a:off x="6246876" y="1686147"/>
            <a:ext cx="1508760" cy="123444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>
              <a:defRPr sz="1700" b="1">
                <a:solidFill>
                  <a:srgbClr val="FFFFFF"/>
                </a:solidFill>
                <a:latin typeface="Arial"/>
              </a:defRPr>
            </a:pPr>
            <a:r>
              <a:t>RISE Knowledge Source</a:t>
            </a:r>
          </a:p>
        </p:txBody>
      </p:sp>
      <p:sp>
        <p:nvSpPr>
          <p:cNvPr id="17" name="TextBox 13">
            <a:extLst>
              <a:ext uri="{FF2B5EF4-FFF2-40B4-BE49-F238E27FC236}">
                <a16:creationId xmlns:a16="http://schemas.microsoft.com/office/drawing/2014/main" id="{4F1E70E0-6F72-008A-E781-166C6534EBDF}"/>
              </a:ext>
            </a:extLst>
          </p:cNvPr>
          <p:cNvSpPr txBox="1"/>
          <p:nvPr/>
        </p:nvSpPr>
        <p:spPr>
          <a:xfrm>
            <a:off x="7771437" y="2157523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defRPr sz="2400" b="1">
                <a:solidFill>
                  <a:srgbClr val="0070C0"/>
                </a:solidFill>
                <a:latin typeface="Arial"/>
              </a:defRPr>
            </a:pPr>
            <a:r>
              <a:rPr dirty="0"/>
              <a:t>→</a:t>
            </a:r>
          </a:p>
        </p:txBody>
      </p:sp>
      <p:sp>
        <p:nvSpPr>
          <p:cNvPr id="18" name="TextBox 14">
            <a:extLst>
              <a:ext uri="{FF2B5EF4-FFF2-40B4-BE49-F238E27FC236}">
                <a16:creationId xmlns:a16="http://schemas.microsoft.com/office/drawing/2014/main" id="{12EA54FF-A01E-AF9A-B869-8500722284FC}"/>
              </a:ext>
            </a:extLst>
          </p:cNvPr>
          <p:cNvSpPr txBox="1"/>
          <p:nvPr/>
        </p:nvSpPr>
        <p:spPr>
          <a:xfrm>
            <a:off x="8651748" y="281178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317278E-A1EE-7162-6B5C-080234BA0E19}"/>
              </a:ext>
            </a:extLst>
          </p:cNvPr>
          <p:cNvSpPr/>
          <p:nvPr/>
        </p:nvSpPr>
        <p:spPr>
          <a:xfrm>
            <a:off x="8080249" y="1686147"/>
            <a:ext cx="1508760" cy="123444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>
              <a:defRPr sz="1700" b="1">
                <a:solidFill>
                  <a:srgbClr val="FFFFFF"/>
                </a:solidFill>
                <a:latin typeface="Arial"/>
              </a:defRPr>
            </a:pPr>
            <a:r>
              <a:t>Retrieved Context</a:t>
            </a:r>
          </a:p>
        </p:txBody>
      </p:sp>
      <p:sp>
        <p:nvSpPr>
          <p:cNvPr id="20" name="TextBox 16">
            <a:extLst>
              <a:ext uri="{FF2B5EF4-FFF2-40B4-BE49-F238E27FC236}">
                <a16:creationId xmlns:a16="http://schemas.microsoft.com/office/drawing/2014/main" id="{5E987F6C-66E2-3907-CB38-467373AE4129}"/>
              </a:ext>
            </a:extLst>
          </p:cNvPr>
          <p:cNvSpPr txBox="1"/>
          <p:nvPr/>
        </p:nvSpPr>
        <p:spPr>
          <a:xfrm>
            <a:off x="9691879" y="221742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defRPr sz="2400" b="1">
                <a:solidFill>
                  <a:srgbClr val="0070C0"/>
                </a:solidFill>
                <a:latin typeface="Arial"/>
              </a:defRPr>
            </a:pPr>
            <a:r>
              <a:rPr dirty="0"/>
              <a:t>→</a:t>
            </a:r>
          </a:p>
        </p:txBody>
      </p:sp>
      <p:sp>
        <p:nvSpPr>
          <p:cNvPr id="21" name="TextBox 17">
            <a:extLst>
              <a:ext uri="{FF2B5EF4-FFF2-40B4-BE49-F238E27FC236}">
                <a16:creationId xmlns:a16="http://schemas.microsoft.com/office/drawing/2014/main" id="{6273348D-C2E1-E8DB-6824-08B9BDE8BF8C}"/>
              </a:ext>
            </a:extLst>
          </p:cNvPr>
          <p:cNvSpPr txBox="1"/>
          <p:nvPr/>
        </p:nvSpPr>
        <p:spPr>
          <a:xfrm>
            <a:off x="10553700" y="281178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90DE88A-EC10-E3C2-E12D-F975D7F7C753}"/>
              </a:ext>
            </a:extLst>
          </p:cNvPr>
          <p:cNvSpPr/>
          <p:nvPr/>
        </p:nvSpPr>
        <p:spPr>
          <a:xfrm>
            <a:off x="10011919" y="1686147"/>
            <a:ext cx="1508760" cy="123444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>
              <a:defRPr sz="1700" b="1">
                <a:solidFill>
                  <a:srgbClr val="FFFFFF"/>
                </a:solidFill>
                <a:latin typeface="Arial"/>
              </a:defRPr>
            </a:pPr>
            <a:r>
              <a:t>Grounded Answer</a:t>
            </a:r>
          </a:p>
        </p:txBody>
      </p:sp>
      <p:sp>
        <p:nvSpPr>
          <p:cNvPr id="23" name="TextBox 19">
            <a:extLst>
              <a:ext uri="{FF2B5EF4-FFF2-40B4-BE49-F238E27FC236}">
                <a16:creationId xmlns:a16="http://schemas.microsoft.com/office/drawing/2014/main" id="{98DBBB43-E1E2-6C05-3691-7D2432C1DA7C}"/>
              </a:ext>
            </a:extLst>
          </p:cNvPr>
          <p:cNvSpPr txBox="1"/>
          <p:nvPr/>
        </p:nvSpPr>
        <p:spPr>
          <a:xfrm>
            <a:off x="1066800" y="3909061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defRPr sz="2000" b="0">
                <a:solidFill>
                  <a:srgbClr val="323232"/>
                </a:solidFill>
                <a:latin typeface="Arial"/>
              </a:defRPr>
            </a:pPr>
            <a:r>
              <a:rPr dirty="0"/>
              <a:t>Retrieval-Augmented Generation grounds the response in the connected institutional knowledge source before the answer is presented to the student.</a:t>
            </a:r>
          </a:p>
        </p:txBody>
      </p:sp>
    </p:spTree>
    <p:extLst>
      <p:ext uri="{BB962C8B-B14F-4D97-AF65-F5344CB8AC3E}">
        <p14:creationId xmlns:p14="http://schemas.microsoft.com/office/powerpoint/2010/main" val="2772501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78578745-3233-E2C4-2AF4-55BA57C68D3F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 blueprint</a:t>
            </a:r>
            <a:endParaRPr lang="en-US" sz="2400"/>
          </a:p>
        </p:txBody>
      </p:sp>
      <p:sp>
        <p:nvSpPr>
          <p:cNvPr id="6" name="Rounded Rectangle 2">
            <a:extLst>
              <a:ext uri="{FF2B5EF4-FFF2-40B4-BE49-F238E27FC236}">
                <a16:creationId xmlns:a16="http://schemas.microsoft.com/office/drawing/2014/main" id="{BA08E5E6-CE60-6DEF-2A86-3B184A208AED}"/>
              </a:ext>
            </a:extLst>
          </p:cNvPr>
          <p:cNvSpPr/>
          <p:nvPr/>
        </p:nvSpPr>
        <p:spPr>
          <a:xfrm>
            <a:off x="929640" y="1189726"/>
            <a:ext cx="2011680" cy="914400"/>
          </a:xfrm>
          <a:prstGeom prst="roundRect">
            <a:avLst/>
          </a:prstGeom>
          <a:solidFill>
            <a:srgbClr val="DDEBF7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>
              <a:defRPr sz="1800" b="1">
                <a:latin typeface="Arial"/>
              </a:defRPr>
            </a:pPr>
            <a:r>
              <a:rPr dirty="0"/>
              <a:t>Student / Parent</a:t>
            </a:r>
          </a:p>
        </p:txBody>
      </p:sp>
      <p:sp>
        <p:nvSpPr>
          <p:cNvPr id="7" name="Rounded Rectangle 3">
            <a:extLst>
              <a:ext uri="{FF2B5EF4-FFF2-40B4-BE49-F238E27FC236}">
                <a16:creationId xmlns:a16="http://schemas.microsoft.com/office/drawing/2014/main" id="{709CFE18-CCE7-D974-25C8-EF07584C2B1C}"/>
              </a:ext>
            </a:extLst>
          </p:cNvPr>
          <p:cNvSpPr/>
          <p:nvPr/>
        </p:nvSpPr>
        <p:spPr>
          <a:xfrm>
            <a:off x="4434839" y="1237639"/>
            <a:ext cx="2011680" cy="914400"/>
          </a:xfrm>
          <a:prstGeom prst="roundRect">
            <a:avLst/>
          </a:prstGeom>
          <a:solidFill>
            <a:srgbClr val="DDEBF7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>
              <a:defRPr sz="1800" b="1">
                <a:latin typeface="Arial"/>
              </a:defRPr>
            </a:pPr>
            <a:r>
              <a:rPr dirty="0"/>
              <a:t>React Frontend</a:t>
            </a:r>
          </a:p>
        </p:txBody>
      </p:sp>
      <p:sp>
        <p:nvSpPr>
          <p:cNvPr id="8" name="Rounded Rectangle 4">
            <a:extLst>
              <a:ext uri="{FF2B5EF4-FFF2-40B4-BE49-F238E27FC236}">
                <a16:creationId xmlns:a16="http://schemas.microsoft.com/office/drawing/2014/main" id="{B1ED7E54-D184-97CA-F560-0F78D1BDF292}"/>
              </a:ext>
            </a:extLst>
          </p:cNvPr>
          <p:cNvSpPr/>
          <p:nvPr/>
        </p:nvSpPr>
        <p:spPr>
          <a:xfrm>
            <a:off x="8032682" y="1267953"/>
            <a:ext cx="2011680" cy="914400"/>
          </a:xfrm>
          <a:prstGeom prst="roundRect">
            <a:avLst/>
          </a:prstGeom>
          <a:solidFill>
            <a:srgbClr val="DDEBF7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>
              <a:defRPr sz="1800" b="1">
                <a:latin typeface="Arial"/>
              </a:defRPr>
            </a:pPr>
            <a:r>
              <a:t>IBM watsonx</a:t>
            </a:r>
          </a:p>
          <a:p>
            <a:r>
              <a:t>Orchestrate Agent</a:t>
            </a:r>
          </a:p>
        </p:txBody>
      </p:sp>
      <p:sp>
        <p:nvSpPr>
          <p:cNvPr id="9" name="Rounded Rectangle 5">
            <a:extLst>
              <a:ext uri="{FF2B5EF4-FFF2-40B4-BE49-F238E27FC236}">
                <a16:creationId xmlns:a16="http://schemas.microsoft.com/office/drawing/2014/main" id="{8014302B-841A-43BA-F4E0-3193E9A08E0E}"/>
              </a:ext>
            </a:extLst>
          </p:cNvPr>
          <p:cNvSpPr/>
          <p:nvPr/>
        </p:nvSpPr>
        <p:spPr>
          <a:xfrm>
            <a:off x="8124122" y="4526280"/>
            <a:ext cx="2011680" cy="914400"/>
          </a:xfrm>
          <a:prstGeom prst="roundRect">
            <a:avLst/>
          </a:prstGeom>
          <a:solidFill>
            <a:srgbClr val="DDEBF7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>
              <a:defRPr sz="1800" b="1">
                <a:latin typeface="Arial"/>
              </a:defRPr>
            </a:pPr>
            <a:r>
              <a:t>RISE Official</a:t>
            </a:r>
          </a:p>
          <a:p>
            <a:r>
              <a:t>Knowledge Source</a:t>
            </a:r>
          </a:p>
        </p:txBody>
      </p:sp>
      <p:sp>
        <p:nvSpPr>
          <p:cNvPr id="10" name="Rounded Rectangle 6">
            <a:extLst>
              <a:ext uri="{FF2B5EF4-FFF2-40B4-BE49-F238E27FC236}">
                <a16:creationId xmlns:a16="http://schemas.microsoft.com/office/drawing/2014/main" id="{426BA0BD-959F-DEF7-A581-629604B18968}"/>
              </a:ext>
            </a:extLst>
          </p:cNvPr>
          <p:cNvSpPr/>
          <p:nvPr/>
        </p:nvSpPr>
        <p:spPr>
          <a:xfrm>
            <a:off x="1133865" y="4480560"/>
            <a:ext cx="2011680" cy="914400"/>
          </a:xfrm>
          <a:prstGeom prst="roundRect">
            <a:avLst/>
          </a:prstGeom>
          <a:solidFill>
            <a:srgbClr val="DDEBF7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>
              <a:defRPr sz="1800" b="1">
                <a:latin typeface="Arial"/>
              </a:defRPr>
            </a:pPr>
            <a:r>
              <a:t>Grounded Response</a:t>
            </a:r>
          </a:p>
        </p:txBody>
      </p:sp>
      <p:sp>
        <p:nvSpPr>
          <p:cNvPr id="14" name="TextBox 10">
            <a:extLst>
              <a:ext uri="{FF2B5EF4-FFF2-40B4-BE49-F238E27FC236}">
                <a16:creationId xmlns:a16="http://schemas.microsoft.com/office/drawing/2014/main" id="{1AC473F3-1574-2469-EFC4-28EB4141089A}"/>
              </a:ext>
            </a:extLst>
          </p:cNvPr>
          <p:cNvSpPr txBox="1"/>
          <p:nvPr/>
        </p:nvSpPr>
        <p:spPr>
          <a:xfrm>
            <a:off x="7311835" y="46618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defRPr sz="2400" b="1">
                <a:solidFill>
                  <a:srgbClr val="0070C0"/>
                </a:solidFill>
                <a:latin typeface="Arial"/>
              </a:defRPr>
            </a:pPr>
            <a:r>
              <a:rPr dirty="0"/>
              <a:t>←</a:t>
            </a:r>
          </a:p>
        </p:txBody>
      </p:sp>
      <p:sp>
        <p:nvSpPr>
          <p:cNvPr id="15" name="TextBox 11">
            <a:extLst>
              <a:ext uri="{FF2B5EF4-FFF2-40B4-BE49-F238E27FC236}">
                <a16:creationId xmlns:a16="http://schemas.microsoft.com/office/drawing/2014/main" id="{3898266B-4069-EB47-3383-2A28034DF7F2}"/>
              </a:ext>
            </a:extLst>
          </p:cNvPr>
          <p:cNvSpPr txBox="1"/>
          <p:nvPr/>
        </p:nvSpPr>
        <p:spPr>
          <a:xfrm rot="5400000">
            <a:off x="3656399" y="4754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defRPr sz="2400" b="1">
                <a:solidFill>
                  <a:srgbClr val="0070C0"/>
                </a:solidFill>
                <a:latin typeface="Arial"/>
              </a:defRPr>
            </a:pPr>
            <a:r>
              <a:rPr dirty="0"/>
              <a:t>↓</a:t>
            </a:r>
          </a:p>
        </p:txBody>
      </p:sp>
      <p:sp>
        <p:nvSpPr>
          <p:cNvPr id="21" name="Rounded Rectangle 6">
            <a:extLst>
              <a:ext uri="{FF2B5EF4-FFF2-40B4-BE49-F238E27FC236}">
                <a16:creationId xmlns:a16="http://schemas.microsoft.com/office/drawing/2014/main" id="{02BF4698-3AD5-3512-2EC4-10394F7C2440}"/>
              </a:ext>
            </a:extLst>
          </p:cNvPr>
          <p:cNvSpPr/>
          <p:nvPr/>
        </p:nvSpPr>
        <p:spPr>
          <a:xfrm>
            <a:off x="4434839" y="4480560"/>
            <a:ext cx="2011680" cy="914400"/>
          </a:xfrm>
          <a:prstGeom prst="roundRect">
            <a:avLst/>
          </a:prstGeom>
          <a:solidFill>
            <a:srgbClr val="DDEBF7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>
              <a:defRPr sz="1800" b="1">
                <a:latin typeface="Arial"/>
              </a:defRPr>
            </a:pPr>
            <a:r>
              <a:rPr lang="en-IN" dirty="0"/>
              <a:t>Retrieved</a:t>
            </a:r>
          </a:p>
          <a:p>
            <a:pPr algn="ctr">
              <a:defRPr sz="1800" b="1">
                <a:latin typeface="Arial"/>
              </a:defRPr>
            </a:pPr>
            <a:r>
              <a:rPr lang="en-IN" dirty="0"/>
              <a:t>Context</a:t>
            </a:r>
            <a:endParaRPr dirty="0"/>
          </a:p>
        </p:txBody>
      </p:sp>
      <p:sp>
        <p:nvSpPr>
          <p:cNvPr id="22" name="TextBox 7">
            <a:extLst>
              <a:ext uri="{FF2B5EF4-FFF2-40B4-BE49-F238E27FC236}">
                <a16:creationId xmlns:a16="http://schemas.microsoft.com/office/drawing/2014/main" id="{9DE03A92-E8AE-FD5B-2B30-78E992FC41EC}"/>
              </a:ext>
            </a:extLst>
          </p:cNvPr>
          <p:cNvSpPr txBox="1"/>
          <p:nvPr/>
        </p:nvSpPr>
        <p:spPr>
          <a:xfrm>
            <a:off x="3307080" y="1549687"/>
            <a:ext cx="7183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defRPr sz="2400" b="1">
                <a:solidFill>
                  <a:srgbClr val="0070C0"/>
                </a:solidFill>
                <a:latin typeface="Arial"/>
              </a:defRPr>
            </a:pPr>
            <a:r>
              <a:rPr dirty="0"/>
              <a:t>→</a:t>
            </a:r>
          </a:p>
        </p:txBody>
      </p:sp>
      <p:sp>
        <p:nvSpPr>
          <p:cNvPr id="23" name="TextBox 8">
            <a:extLst>
              <a:ext uri="{FF2B5EF4-FFF2-40B4-BE49-F238E27FC236}">
                <a16:creationId xmlns:a16="http://schemas.microsoft.com/office/drawing/2014/main" id="{F23A09A9-AA7E-1940-3AC1-96D1C9349A8E}"/>
              </a:ext>
            </a:extLst>
          </p:cNvPr>
          <p:cNvSpPr txBox="1"/>
          <p:nvPr/>
        </p:nvSpPr>
        <p:spPr>
          <a:xfrm>
            <a:off x="7035263" y="159763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defRPr sz="2400" b="1">
                <a:solidFill>
                  <a:srgbClr val="0070C0"/>
                </a:solidFill>
                <a:latin typeface="Arial"/>
              </a:defRPr>
            </a:pPr>
            <a:r>
              <a:rPr dirty="0"/>
              <a:t>→</a:t>
            </a:r>
          </a:p>
        </p:txBody>
      </p:sp>
      <p:sp>
        <p:nvSpPr>
          <p:cNvPr id="24" name="TextBox 9">
            <a:extLst>
              <a:ext uri="{FF2B5EF4-FFF2-40B4-BE49-F238E27FC236}">
                <a16:creationId xmlns:a16="http://schemas.microsoft.com/office/drawing/2014/main" id="{50E28C43-2345-7013-8D64-79F21FE07A89}"/>
              </a:ext>
            </a:extLst>
          </p:cNvPr>
          <p:cNvSpPr txBox="1"/>
          <p:nvPr/>
        </p:nvSpPr>
        <p:spPr>
          <a:xfrm>
            <a:off x="8809922" y="2971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defRPr sz="2400" b="1">
                <a:solidFill>
                  <a:srgbClr val="0070C0"/>
                </a:solidFill>
                <a:latin typeface="Arial"/>
              </a:defRPr>
            </a:pPr>
            <a:r>
              <a:rPr dirty="0"/>
              <a:t>↓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1985" y="1167493"/>
            <a:ext cx="3015343" cy="452301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84A7B44-8B20-5A39-ED43-DA98D0FC7976}"/>
              </a:ext>
            </a:extLst>
          </p:cNvPr>
          <p:cNvSpPr txBox="1"/>
          <p:nvPr/>
        </p:nvSpPr>
        <p:spPr>
          <a:xfrm>
            <a:off x="475488" y="283464"/>
            <a:ext cx="9317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/>
              <a:t>Role of Agentic AI in the solution </a:t>
            </a:r>
            <a:endParaRPr lang="en-IN" sz="32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2462E8-EB3A-DA7D-44CB-4E757803A755}"/>
              </a:ext>
            </a:extLst>
          </p:cNvPr>
          <p:cNvSpPr txBox="1"/>
          <p:nvPr/>
        </p:nvSpPr>
        <p:spPr>
          <a:xfrm>
            <a:off x="621792" y="1167493"/>
            <a:ext cx="7406640" cy="4001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  <a:defRPr sz="2000">
                <a:latin typeface="Arial"/>
              </a:defRPr>
            </a:pPr>
            <a:r>
              <a:rPr lang="en-US" dirty="0"/>
              <a:t>Understands the student’s admission intent instead of requiring rigid menu navigation.</a:t>
            </a:r>
          </a:p>
          <a:p>
            <a:pPr>
              <a:spcAft>
                <a:spcPts val="800"/>
              </a:spcAft>
              <a:defRPr sz="2000">
                <a:latin typeface="Arial"/>
              </a:defRPr>
            </a:pPr>
            <a:r>
              <a:rPr lang="en-US" dirty="0"/>
              <a:t>Chooses the relevant knowledge needed for the question.</a:t>
            </a:r>
          </a:p>
          <a:p>
            <a:pPr>
              <a:spcAft>
                <a:spcPts val="800"/>
              </a:spcAft>
              <a:defRPr sz="2000">
                <a:latin typeface="Arial"/>
              </a:defRPr>
            </a:pPr>
            <a:r>
              <a:rPr lang="en-US" dirty="0"/>
              <a:t>Uses retrieved institutional context to produce grounded answers.</a:t>
            </a:r>
          </a:p>
          <a:p>
            <a:pPr>
              <a:spcAft>
                <a:spcPts val="800"/>
              </a:spcAft>
              <a:defRPr sz="2000">
                <a:latin typeface="Arial"/>
              </a:defRPr>
            </a:pPr>
            <a:r>
              <a:rPr lang="en-US" dirty="0"/>
              <a:t>Handles follow-up questions within the admission conversation.</a:t>
            </a:r>
          </a:p>
          <a:p>
            <a:pPr>
              <a:spcAft>
                <a:spcPts val="800"/>
              </a:spcAft>
              <a:defRPr sz="2000">
                <a:latin typeface="Arial"/>
              </a:defRPr>
            </a:pPr>
            <a:r>
              <a:rPr lang="en-US" dirty="0"/>
              <a:t>Applies trust rules: no guessing, no fabricated fees or deadlines, and verification for changing information.</a:t>
            </a:r>
          </a:p>
          <a:p>
            <a:pPr>
              <a:spcAft>
                <a:spcPts val="800"/>
              </a:spcAft>
              <a:defRPr sz="2000">
                <a:latin typeface="Arial"/>
              </a:defRPr>
            </a:pPr>
            <a:r>
              <a:rPr lang="en-US" dirty="0"/>
              <a:t>Provides a scalable conversational interface for students and parents.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Arial"/>
              </a:defRPr>
            </a:pPr>
            <a:r>
              <a:t>Website Home &amp; AI Assistant</a:t>
            </a:r>
          </a:p>
        </p:txBody>
      </p:sp>
      <p:pic>
        <p:nvPicPr>
          <p:cNvPr id="3" name="Picture 2" descr="s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005840"/>
            <a:ext cx="10835640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Arial"/>
              </a:defRPr>
            </a:pPr>
            <a:r>
              <a:t>Courses Offered</a:t>
            </a:r>
          </a:p>
        </p:txBody>
      </p:sp>
      <p:pic>
        <p:nvPicPr>
          <p:cNvPr id="3" name="Picture 2" descr="s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005840"/>
            <a:ext cx="10835640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Arial"/>
              </a:defRPr>
            </a:pPr>
            <a:r>
              <a:t>Eligibility Information</a:t>
            </a:r>
          </a:p>
        </p:txBody>
      </p:sp>
      <p:pic>
        <p:nvPicPr>
          <p:cNvPr id="3" name="Picture 2" descr="s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005840"/>
            <a:ext cx="10835640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Arial"/>
              </a:defRPr>
            </a:pPr>
            <a:r>
              <a:t>Admission Process</a:t>
            </a:r>
          </a:p>
        </p:txBody>
      </p:sp>
      <p:pic>
        <p:nvPicPr>
          <p:cNvPr id="3" name="Picture 2" descr="s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005840"/>
            <a:ext cx="10835640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Arial"/>
              </a:defRPr>
            </a:pPr>
            <a:r>
              <a:t>Fee Structure</a:t>
            </a:r>
          </a:p>
        </p:txBody>
      </p:sp>
      <p:pic>
        <p:nvPicPr>
          <p:cNvPr id="3" name="Picture 2" descr="s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005840"/>
            <a:ext cx="10835640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Arial"/>
              </a:defRPr>
            </a:pPr>
            <a:r>
              <a:t>Required Documents</a:t>
            </a:r>
          </a:p>
        </p:txBody>
      </p:sp>
      <p:pic>
        <p:nvPicPr>
          <p:cNvPr id="3" name="Picture 2" descr="s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005840"/>
            <a:ext cx="10835640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Arial"/>
              </a:defRPr>
            </a:pPr>
            <a:r>
              <a:t>Live RAG Chat Test</a:t>
            </a:r>
          </a:p>
        </p:txBody>
      </p:sp>
      <p:pic>
        <p:nvPicPr>
          <p:cNvPr id="3" name="Picture 2" descr="s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005840"/>
            <a:ext cx="10835640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Arial"/>
              </a:defRPr>
            </a:pPr>
            <a:r>
              <a:t>Orchestrate Agent Configuration</a:t>
            </a:r>
          </a:p>
        </p:txBody>
      </p:sp>
      <p:pic>
        <p:nvPicPr>
          <p:cNvPr id="3" name="Picture 2" descr="s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005840"/>
            <a:ext cx="10835640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Arial"/>
              </a:defRPr>
            </a:pPr>
            <a:r>
              <a:t>Deployment &amp; Embedded Agent</a:t>
            </a:r>
          </a:p>
        </p:txBody>
      </p:sp>
      <p:pic>
        <p:nvPicPr>
          <p:cNvPr id="3" name="Picture 2" descr="s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005840"/>
            <a:ext cx="10835640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EEDEC80F-FA4E-F3FF-DE90-87B861D0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A184BA-BCF2-3D7B-30D0-0F3CF30C161B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Novelty and Uniqueness</a:t>
            </a:r>
            <a:endParaRPr lang="en-IN" sz="24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65F54F-855A-0DB6-09A6-3212C5F7405B}"/>
              </a:ext>
            </a:extLst>
          </p:cNvPr>
          <p:cNvSpPr txBox="1"/>
          <p:nvPr/>
        </p:nvSpPr>
        <p:spPr>
          <a:xfrm>
            <a:off x="777240" y="1207008"/>
            <a:ext cx="11301984" cy="32829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  <a:defRPr sz="2000">
                <a:latin typeface="Arial"/>
              </a:defRPr>
            </a:pPr>
            <a:r>
              <a:rPr lang="en-US" dirty="0"/>
              <a:t>RAG-based admission assistance grounded in official college information rather than generic AI knowledge.</a:t>
            </a:r>
          </a:p>
          <a:p>
            <a:pPr>
              <a:spcAft>
                <a:spcPts val="800"/>
              </a:spcAft>
              <a:defRPr sz="2000">
                <a:latin typeface="Arial"/>
              </a:defRPr>
            </a:pPr>
            <a:r>
              <a:rPr lang="en-US" dirty="0"/>
              <a:t>Combines a public student website with a live embedded IBM </a:t>
            </a:r>
            <a:r>
              <a:rPr lang="en-US" dirty="0" err="1"/>
              <a:t>watsonx</a:t>
            </a:r>
            <a:r>
              <a:rPr lang="en-US" dirty="0"/>
              <a:t> Orchestrate agent.</a:t>
            </a:r>
          </a:p>
          <a:p>
            <a:pPr>
              <a:spcAft>
                <a:spcPts val="800"/>
              </a:spcAft>
              <a:defRPr sz="2000">
                <a:latin typeface="Arial"/>
              </a:defRPr>
            </a:pPr>
            <a:r>
              <a:rPr lang="en-US" dirty="0"/>
              <a:t>Answers multiple admission dimensions: courses, intake, eligibility, procedure, fees, documents and contacts.</a:t>
            </a:r>
          </a:p>
          <a:p>
            <a:pPr>
              <a:spcAft>
                <a:spcPts val="800"/>
              </a:spcAft>
              <a:defRPr sz="2000">
                <a:latin typeface="Arial"/>
              </a:defRPr>
            </a:pPr>
            <a:r>
              <a:rPr lang="en-US" dirty="0"/>
              <a:t>Explicit anti-hallucination rules prevent invented deadlines, fees and eligibility information.</a:t>
            </a:r>
          </a:p>
          <a:p>
            <a:pPr>
              <a:spcAft>
                <a:spcPts val="800"/>
              </a:spcAft>
              <a:defRPr sz="2000">
                <a:latin typeface="Arial"/>
              </a:defRPr>
            </a:pPr>
            <a:r>
              <a:rPr lang="en-US" dirty="0"/>
              <a:t>Student-friendly conversational interface reduces the effort required to search multiple admission pages.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79641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7BB3C0CA-2F24-30DF-1D65-4440B864F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187EEB9C-2E84-113A-3CE6-1507BF5B039F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>
                <a:sym typeface="Times New Roman"/>
              </a:rPr>
              <a:t>Git Hub Link</a:t>
            </a:r>
            <a:endParaRPr sz="2400" b="1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3711AF54-94A6-B837-31EF-9A8C4ECB9AF6}"/>
              </a:ext>
            </a:extLst>
          </p:cNvPr>
          <p:cNvSpPr/>
          <p:nvPr/>
        </p:nvSpPr>
        <p:spPr>
          <a:xfrm>
            <a:off x="1218724" y="1153712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E228982D-BF81-530A-CBA1-E897A3CA8EF7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7BC356B8-92F8-3187-D065-667AACF68E72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1558A011-60D6-B010-6117-1B9F7C786B2B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726E4B-5E90-2C5B-9B95-2B0B9F0E7F0D}"/>
              </a:ext>
            </a:extLst>
          </p:cNvPr>
          <p:cNvSpPr txBox="1"/>
          <p:nvPr/>
        </p:nvSpPr>
        <p:spPr>
          <a:xfrm>
            <a:off x="822959" y="1143000"/>
            <a:ext cx="488802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4E79"/>
                </a:solidFill>
                <a:latin typeface="Arial"/>
              </a:defRPr>
            </a:pPr>
            <a:r>
              <a:rPr dirty="0"/>
              <a:t>Working GitHub </a:t>
            </a:r>
            <a:r>
              <a:rPr lang="en-IN" dirty="0"/>
              <a:t>R</a:t>
            </a:r>
            <a:r>
              <a:rPr dirty="0" err="1"/>
              <a:t>epository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4EF51A-0765-5C2B-9CE7-EEEBF68BC9D4}"/>
              </a:ext>
            </a:extLst>
          </p:cNvPr>
          <p:cNvSpPr txBox="1"/>
          <p:nvPr/>
        </p:nvSpPr>
        <p:spPr>
          <a:xfrm>
            <a:off x="822960" y="1737360"/>
            <a:ext cx="10058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66CC"/>
                </a:solidFill>
                <a:latin typeface="Arial"/>
              </a:defRPr>
            </a:pPr>
            <a:r>
              <a:rPr lang="en-IN" dirty="0"/>
              <a:t>https://github.com/akhil1618914/college-admission-ai</a:t>
            </a:r>
            <a:endParaRPr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1CBC48-3AC3-DD54-51F8-7896D15680C6}"/>
              </a:ext>
            </a:extLst>
          </p:cNvPr>
          <p:cNvSpPr txBox="1"/>
          <p:nvPr/>
        </p:nvSpPr>
        <p:spPr>
          <a:xfrm>
            <a:off x="822960" y="2560320"/>
            <a:ext cx="1024128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latin typeface="Arial"/>
              </a:defRPr>
            </a:pPr>
            <a:r>
              <a:rPr dirty="0"/>
              <a:t>Public repository contains the frontend source code and README setup instructions.</a:t>
            </a:r>
          </a:p>
          <a:p>
            <a:pPr>
              <a:spcAft>
                <a:spcPts val="800"/>
              </a:spcAft>
              <a:defRPr sz="2000">
                <a:latin typeface="Arial"/>
              </a:defRPr>
            </a:pPr>
            <a:r>
              <a:rPr dirty="0" err="1"/>
              <a:t>app.json</a:t>
            </a:r>
            <a:r>
              <a:rPr dirty="0"/>
              <a:t> – project submission metadata/configuration file.</a:t>
            </a:r>
          </a:p>
          <a:p>
            <a:pPr>
              <a:spcAft>
                <a:spcPts val="800"/>
              </a:spcAft>
              <a:defRPr sz="2000">
                <a:latin typeface="Arial"/>
              </a:defRPr>
            </a:pPr>
            <a:r>
              <a:rPr dirty="0"/>
              <a:t>Project presentation (.pptx) – this final submission deck.</a:t>
            </a:r>
          </a:p>
          <a:p>
            <a:pPr>
              <a:spcAft>
                <a:spcPts val="800"/>
              </a:spcAft>
              <a:defRPr sz="2000">
                <a:latin typeface="Arial"/>
              </a:defRPr>
            </a:pPr>
            <a:r>
              <a:rPr dirty="0"/>
              <a:t>Problem statement PDF – to be added before final submission if required by the evaluator.</a:t>
            </a:r>
          </a:p>
        </p:txBody>
      </p:sp>
    </p:spTree>
    <p:extLst>
      <p:ext uri="{BB962C8B-B14F-4D97-AF65-F5344CB8AC3E}">
        <p14:creationId xmlns:p14="http://schemas.microsoft.com/office/powerpoint/2010/main" val="26058519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>
                <a:sym typeface="Times New Roman"/>
              </a:rPr>
              <a:t>Future Scope </a:t>
            </a:r>
            <a:endParaRPr sz="2400" b="1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EAFA16CB-0A72-5AC5-69A0-ABF4A752B43F}"/>
              </a:ext>
            </a:extLst>
          </p:cNvPr>
          <p:cNvSpPr/>
          <p:nvPr/>
        </p:nvSpPr>
        <p:spPr>
          <a:xfrm>
            <a:off x="1218724" y="1221715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spcAft>
                <a:spcPts val="800"/>
              </a:spcAft>
              <a:defRPr sz="2000">
                <a:latin typeface="Arial"/>
              </a:defRPr>
            </a:pPr>
            <a:r>
              <a:rPr lang="en-US" sz="2000" dirty="0"/>
              <a:t>Add verified 2026–27 admission deadlines and automatic update workflows.</a:t>
            </a:r>
          </a:p>
          <a:p>
            <a:pPr>
              <a:spcAft>
                <a:spcPts val="800"/>
              </a:spcAft>
              <a:defRPr sz="2000">
                <a:latin typeface="Arial"/>
              </a:defRPr>
            </a:pPr>
            <a:r>
              <a:rPr lang="en-US" sz="2000" dirty="0"/>
              <a:t>Connect additional official institutional sources and structured admission databases.</a:t>
            </a:r>
          </a:p>
          <a:p>
            <a:pPr>
              <a:spcAft>
                <a:spcPts val="800"/>
              </a:spcAft>
              <a:defRPr sz="2000">
                <a:latin typeface="Arial"/>
              </a:defRPr>
            </a:pPr>
            <a:r>
              <a:rPr lang="en-US" sz="2000" dirty="0"/>
              <a:t>Add multilingual support for Telugu and other regional languages.</a:t>
            </a:r>
          </a:p>
          <a:p>
            <a:pPr>
              <a:spcAft>
                <a:spcPts val="800"/>
              </a:spcAft>
              <a:defRPr sz="2000">
                <a:latin typeface="Arial"/>
              </a:defRPr>
            </a:pPr>
            <a:r>
              <a:rPr lang="en-US" sz="2000" dirty="0"/>
              <a:t>Add application-status and document-checklist assistance through approved integrations.</a:t>
            </a:r>
          </a:p>
          <a:p>
            <a:pPr>
              <a:spcAft>
                <a:spcPts val="800"/>
              </a:spcAft>
              <a:defRPr sz="2000">
                <a:latin typeface="Arial"/>
              </a:defRPr>
            </a:pPr>
            <a:r>
              <a:rPr lang="en-US" sz="2000" dirty="0"/>
              <a:t>Add analytics to identify frequently asked admission questions.</a:t>
            </a:r>
          </a:p>
          <a:p>
            <a:pPr>
              <a:spcAft>
                <a:spcPts val="800"/>
              </a:spcAft>
              <a:defRPr sz="2000">
                <a:latin typeface="Arial"/>
              </a:defRPr>
            </a:pPr>
            <a:r>
              <a:rPr lang="en-US" sz="2000" dirty="0"/>
              <a:t>Introduce authenticated access and stronger embed security for production deployment.</a:t>
            </a: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20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91F05971-9256-10B5-6575-4E7C679C6DAA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367067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87B0B48-5921-CA0A-B29B-DE2735ECFAC4}"/>
              </a:ext>
            </a:extLst>
          </p:cNvPr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Arial"/>
              </a:defRPr>
            </a:pPr>
            <a:r>
              <a:t>Certificates Earned</a:t>
            </a:r>
          </a:p>
        </p:txBody>
      </p:sp>
      <p:pic>
        <p:nvPicPr>
          <p:cNvPr id="8" name="Picture 7" descr="cert1.png">
            <a:extLst>
              <a:ext uri="{FF2B5EF4-FFF2-40B4-BE49-F238E27FC236}">
                <a16:creationId xmlns:a16="http://schemas.microsoft.com/office/drawing/2014/main" id="{32F2453E-4793-16F3-12EE-D79841D241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97280"/>
            <a:ext cx="3520440" cy="4754880"/>
          </a:xfrm>
          <a:prstGeom prst="rect">
            <a:avLst/>
          </a:prstGeom>
        </p:spPr>
      </p:pic>
      <p:pic>
        <p:nvPicPr>
          <p:cNvPr id="10" name="Picture 9" descr="cert2.png">
            <a:extLst>
              <a:ext uri="{FF2B5EF4-FFF2-40B4-BE49-F238E27FC236}">
                <a16:creationId xmlns:a16="http://schemas.microsoft.com/office/drawing/2014/main" id="{E08E29EB-A982-6E89-B13D-350F1FB10E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097280"/>
            <a:ext cx="3520440" cy="4754880"/>
          </a:xfrm>
          <a:prstGeom prst="rect">
            <a:avLst/>
          </a:prstGeom>
        </p:spPr>
      </p:pic>
      <p:pic>
        <p:nvPicPr>
          <p:cNvPr id="12" name="Picture 11" descr="cert3.png">
            <a:extLst>
              <a:ext uri="{FF2B5EF4-FFF2-40B4-BE49-F238E27FC236}">
                <a16:creationId xmlns:a16="http://schemas.microsoft.com/office/drawing/2014/main" id="{ABE9D183-36B7-1457-D392-CCCA02A314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3880" y="1097280"/>
            <a:ext cx="3520440" cy="475488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A4780F6-4DA9-E59A-2B04-CC55C1505F1B}"/>
              </a:ext>
            </a:extLst>
          </p:cNvPr>
          <p:cNvSpPr txBox="1"/>
          <p:nvPr/>
        </p:nvSpPr>
        <p:spPr>
          <a:xfrm>
            <a:off x="365760" y="594360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0000"/>
                </a:solidFill>
                <a:latin typeface="Arial"/>
              </a:defRPr>
            </a:pPr>
            <a:r>
              <a:t>IBM SkillsBuild – Getting Started with Cybersecurity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AE543DE-6742-79C1-AD3E-01641915E4BF}"/>
              </a:ext>
            </a:extLst>
          </p:cNvPr>
          <p:cNvSpPr txBox="1"/>
          <p:nvPr/>
        </p:nvSpPr>
        <p:spPr>
          <a:xfrm>
            <a:off x="3977639" y="594360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0000"/>
                </a:solidFill>
                <a:latin typeface="Arial"/>
              </a:defRPr>
            </a:pPr>
            <a:r>
              <a:t>IBM SkillsBuild – Journey to Cloud: Envisioning Your Solution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FF4DFE6-B505-558A-BBD9-87CE165F7B82}"/>
              </a:ext>
            </a:extLst>
          </p:cNvPr>
          <p:cNvSpPr txBox="1"/>
          <p:nvPr/>
        </p:nvSpPr>
        <p:spPr>
          <a:xfrm>
            <a:off x="7818120" y="594360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0000"/>
                </a:solidFill>
                <a:latin typeface="Arial"/>
              </a:defRPr>
            </a:pPr>
            <a:r>
              <a:t>IBM SkillsBuild – Getting Started with Artificial Intelligence</a:t>
            </a:r>
          </a:p>
        </p:txBody>
      </p:sp>
    </p:spTree>
    <p:extLst>
      <p:ext uri="{BB962C8B-B14F-4D97-AF65-F5344CB8AC3E}">
        <p14:creationId xmlns:p14="http://schemas.microsoft.com/office/powerpoint/2010/main" val="12290476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75A62-72BD-4B4A-394E-926CE8E00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0800000" flipV="1">
            <a:off x="265470" y="137653"/>
            <a:ext cx="11838039" cy="462115"/>
          </a:xfrm>
        </p:spPr>
        <p:txBody>
          <a:bodyPr>
            <a:noAutofit/>
          </a:bodyPr>
          <a:lstStyle/>
          <a:p>
            <a:pPr fontAlgn="base"/>
            <a:r>
              <a:rPr lang="en-IN" sz="2800" b="1" dirty="0"/>
              <a:t>Lab: </a:t>
            </a:r>
            <a:r>
              <a:rPr lang="en-IN" sz="2800" b="1" dirty="0">
                <a:latin typeface="+mj-lt"/>
              </a:rPr>
              <a:t>Troubleshoot</a:t>
            </a:r>
            <a:r>
              <a:rPr lang="en-IN" sz="2800" b="1" dirty="0"/>
              <a:t> Your Code Using IBM Bob certificate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EA3426-CD7E-810C-058D-46A7FFBE5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4297" y="884903"/>
            <a:ext cx="11769212" cy="5761703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2B8C62-4E2A-48C0-2CFA-F92619A45F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502" y="884902"/>
            <a:ext cx="10104996" cy="5761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73721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816</Words>
  <Application>Microsoft Office PowerPoint</Application>
  <PresentationFormat>Widescreen</PresentationFormat>
  <Paragraphs>129</Paragraphs>
  <Slides>24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Times New Roman</vt:lpstr>
      <vt:lpstr>Office Theme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Lab: Troubleshoot Your Code Using IBM Bob certificate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vaishnavi Arikatla</cp:lastModifiedBy>
  <cp:revision>14</cp:revision>
  <dcterms:created xsi:type="dcterms:W3CDTF">2025-07-08T05:06:56Z</dcterms:created>
  <dcterms:modified xsi:type="dcterms:W3CDTF">2026-09-11T12:32:50Z</dcterms:modified>
</cp:coreProperties>
</file>